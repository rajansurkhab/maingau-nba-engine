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ebp" ContentType="image/webp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MAINGAU Build Days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Bezos quote: Washington Post interview, November 1998. Stats: McKinsey, Next in Personalization 2021 report (November 2021).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maingau-energie.de/ueber-uns. Revenue 1.3 bn EUR in 2025, more than 1 million customer relationships, around 350 employees in Rhein-Main. Awards 2026: kununu Top Company, Focus Money Company of the Year, Top 100 Innovator.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1907 as a local gas association in Obertshausen; each business was added over time and grew its own systems. Figures and launch years from maingau-energie.de.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business grew its own systems. A combined master view is being built on Databricks; the decision layer on top is missing. Data integration is out of scope. Teams work on a prepared, documented mock dataset. Later integration with Databricks belongs in the architecture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campaigns use broad, product-based segments and static criteria: reliable, but neither hyper-personalised nor dynamic, and not steered by customer lifetime value (CLV). Biggest gap: cross-selling across the portfolio. Examples: gas to heat-pump electricity, wallbox to Autostrom, newsletter interest without follow-up, and no difference by customer value. Core task for 32 hours: a working prototype on prepared data plus a simple marketing dashboard. Plus a customer 360° dashboard for service agents. No live event processing (deep dive B), no production interfaces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NBAs are ranked by expected change in CLV, not by campaign targets. Service cases lower CLV through cost-to-serve and churn, so the right action for an unhappy customer is often a service action. Hard rules like consent still apply before ranking; a negative value is the economic reason behind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and Explain are the core. Learn is required as a concept; building it is one of the deep dives. Data freshness moved to deep dive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reference pipeline teams may change. In 32 hours, rules plus the precomputed CLV are fine. The path to ML only needs to be sketched.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creates value only when marketing can steer it and service agents can use it. The customer 360° dashboard shows agents the current status, CLV and the most favourable NBAs during the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core for every team keeps results comparable. The deep dive is where teams differentiate.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data only. Watch for the traps: machine opens, late roaming charge records, guest orders, legacy actions without consent check, offline HEMS gateways, unsubscribes. Credit scoring would count as high-risk AI under the AI Act, which is why payment data may only exclude.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2500"/>
            <a:ext cx="5562005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4114800"/>
            <a:ext cx="18021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52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BUILD DAYS CHALLENGE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952500" y="4781550"/>
            <a:ext cx="14716125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95"/>
              </a:lnSpc>
              <a:buNone/>
            </a:pPr>
            <a:r>
              <a:rPr lang="en-US" sz="10500" b="1" spc="-262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customer, every channel</a:t>
            </a:r>
            <a:endParaRPr lang="en-US" sz="10500" dirty="0"/>
          </a:p>
        </p:txBody>
      </p:sp>
      <p:sp>
        <p:nvSpPr>
          <p:cNvPr id="5" name="Text 2"/>
          <p:cNvSpPr/>
          <p:nvPr/>
        </p:nvSpPr>
        <p:spPr>
          <a:xfrm>
            <a:off x="952500" y="7791450"/>
            <a:ext cx="136207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30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Designing a Next Best Action engine for MAINGAU Energie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52500" y="8991600"/>
            <a:ext cx="1854398" cy="5334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7" name="Text 4"/>
          <p:cNvSpPr/>
          <p:nvPr/>
        </p:nvSpPr>
        <p:spPr>
          <a:xfrm>
            <a:off x="1219200" y="9105900"/>
            <a:ext cx="13971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NBA / NBO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2959298" y="8991600"/>
            <a:ext cx="2266950" cy="5334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225998" y="9105900"/>
            <a:ext cx="1809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Kick-off · Day 1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D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80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“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952500" y="2705100"/>
            <a:ext cx="15697200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492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If we have 4.5 million customers, we shouldn’t have one store. We should have 4.5 million stores.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52500" y="6103441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Jeff Bezos, Amazon, 1998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7962900"/>
            <a:ext cx="1638300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8362950"/>
            <a:ext cx="650489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71%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52500" y="9201150"/>
            <a:ext cx="65048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of consumers expect personalised interactions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75637" y="8362950"/>
            <a:ext cx="523465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76%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475637" y="9201150"/>
            <a:ext cx="52346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get frustrated when it doesn’t happen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44016" y="8972550"/>
            <a:ext cx="462622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Sources: Washington Post, Nov 1998 · McKinsey, Next in Personalization 2021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04775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ABOUT MAINGAU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04775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Energy goes tech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2552700"/>
            <a:ext cx="9810750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An energy and tech company from the Rhein-Main region, and one of the fastest-growing energy providers in Germany.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876800"/>
            <a:ext cx="4648200" cy="2209800"/>
          </a:xfrm>
          <a:prstGeom prst="roundRect">
            <a:avLst>
              <a:gd name="adj" fmla="val 10345"/>
            </a:avLst>
          </a:prstGeom>
          <a:solidFill>
            <a:srgbClr val="F1F6F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219700"/>
            <a:ext cx="427482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€1.3 bn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33500" y="6096000"/>
            <a:ext cx="42748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Revenue in 2025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829300" y="4876800"/>
            <a:ext cx="4648200" cy="2209800"/>
          </a:xfrm>
          <a:prstGeom prst="roundRect">
            <a:avLst>
              <a:gd name="adj" fmla="val 10345"/>
            </a:avLst>
          </a:prstGeom>
          <a:solidFill>
            <a:srgbClr val="F1F6FF"/>
          </a:solidFill>
          <a:ln/>
        </p:spPr>
      </p:sp>
      <p:sp>
        <p:nvSpPr>
          <p:cNvPr id="9" name="Text 7"/>
          <p:cNvSpPr/>
          <p:nvPr/>
        </p:nvSpPr>
        <p:spPr>
          <a:xfrm>
            <a:off x="6210300" y="5219700"/>
            <a:ext cx="427482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 M+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210300" y="6096000"/>
            <a:ext cx="400278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Customer relationships across Europe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7315200"/>
            <a:ext cx="4648200" cy="2209800"/>
          </a:xfrm>
          <a:prstGeom prst="roundRect">
            <a:avLst>
              <a:gd name="adj" fmla="val 10345"/>
            </a:avLst>
          </a:prstGeom>
          <a:solidFill>
            <a:srgbClr val="F1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658100"/>
            <a:ext cx="427482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~350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333500" y="8534400"/>
            <a:ext cx="400278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Employees in the Rhein-Main region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829300" y="7315200"/>
            <a:ext cx="4648200" cy="2209800"/>
          </a:xfrm>
          <a:prstGeom prst="roundRect">
            <a:avLst>
              <a:gd name="adj" fmla="val 10345"/>
            </a:avLst>
          </a:prstGeom>
          <a:solidFill>
            <a:srgbClr val="F1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0300" y="7658100"/>
            <a:ext cx="4274820" cy="800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1633"/>
              </a:lnSpc>
              <a:buNone/>
            </a:pPr>
            <a:r>
              <a:rPr lang="en-US" sz="60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1907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210300" y="8534400"/>
            <a:ext cx="400278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Founded, 115+ years of experience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239500" y="952500"/>
            <a:ext cx="6096000" cy="4191000"/>
          </a:xfrm>
          <a:prstGeom prst="roundRect">
            <a:avLst>
              <a:gd name="adj" fmla="val 5455"/>
            </a:avLst>
          </a:prstGeom>
          <a:solidFill>
            <a:srgbClr val="F1F6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9066" r="9066" t="0" b="0"/>
          <a:stretch/>
        </p:blipFill>
        <p:spPr>
          <a:xfrm>
            <a:off x="11239500" y="952500"/>
            <a:ext cx="6096000" cy="4191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1239500" y="5372100"/>
            <a:ext cx="6096000" cy="4152900"/>
          </a:xfrm>
          <a:prstGeom prst="roundRect">
            <a:avLst>
              <a:gd name="adj" fmla="val 5505"/>
            </a:avLst>
          </a:prstGeom>
          <a:solidFill>
            <a:srgbClr val="002D67"/>
          </a:solidFill>
          <a:ln/>
        </p:spPr>
      </p:sp>
      <p:sp>
        <p:nvSpPr>
          <p:cNvPr id="20" name="Text 17"/>
          <p:cNvSpPr/>
          <p:nvPr/>
        </p:nvSpPr>
        <p:spPr>
          <a:xfrm>
            <a:off x="11620500" y="6338888"/>
            <a:ext cx="5867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OUR CORE VALUES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620500" y="6805613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59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Ambition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1620500" y="7453312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59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Technology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11620500" y="8101013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59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Innovation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OUR PORTFOLIO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Five businesses, built up since 1907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743200"/>
            <a:ext cx="3093690" cy="6781800"/>
          </a:xfrm>
          <a:prstGeom prst="roundRect">
            <a:avLst>
              <a:gd name="adj" fmla="val 7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300" y="312420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57300" y="4229100"/>
            <a:ext cx="1498253" cy="42669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7" name="Text 4"/>
          <p:cNvSpPr/>
          <p:nvPr/>
        </p:nvSpPr>
        <p:spPr>
          <a:xfrm>
            <a:off x="1428750" y="4305300"/>
            <a:ext cx="1231553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Since 1907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57300" y="4846290"/>
            <a:ext cx="256029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6"/>
              </a:lnSpc>
              <a:buNone/>
            </a:pPr>
            <a:r>
              <a:rPr lang="en-US" sz="28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Energy supply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257300" y="5833021"/>
            <a:ext cx="2560290" cy="177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Gas since 1907, electricity since 2007, incl. heat-pump electricity, across Germany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257300" y="7820025"/>
            <a:ext cx="2484090" cy="9525"/>
          </a:xfrm>
          <a:prstGeom prst="rect">
            <a:avLst/>
          </a:prstGeom>
          <a:solidFill>
            <a:srgbClr val="D6E2F5"/>
          </a:solidFill>
          <a:ln/>
        </p:spPr>
      </p:sp>
      <p:sp>
        <p:nvSpPr>
          <p:cNvPr id="11" name="Text 8"/>
          <p:cNvSpPr/>
          <p:nvPr/>
        </p:nvSpPr>
        <p:spPr>
          <a:xfrm>
            <a:off x="1257300" y="8058150"/>
            <a:ext cx="273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~500k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257300" y="8591550"/>
            <a:ext cx="25602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Customers in Germany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74790" y="2743200"/>
            <a:ext cx="3093690" cy="6781800"/>
          </a:xfrm>
          <a:prstGeom prst="roundRect">
            <a:avLst>
              <a:gd name="adj" fmla="val 7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9590" y="3124200"/>
            <a:ext cx="914400" cy="914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79590" y="4229100"/>
            <a:ext cx="1510159" cy="42669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16" name="Text 12"/>
          <p:cNvSpPr/>
          <p:nvPr/>
        </p:nvSpPr>
        <p:spPr>
          <a:xfrm>
            <a:off x="4751040" y="4305300"/>
            <a:ext cx="1243459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Since 2018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79590" y="4846290"/>
            <a:ext cx="2732499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6"/>
              </a:lnSpc>
              <a:buNone/>
            </a:pPr>
            <a:r>
              <a:rPr lang="en-US" sz="28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Autostrom</a:t>
            </a:r>
            <a:endParaRPr lang="en-US" sz="2850" dirty="0"/>
          </a:p>
        </p:txBody>
      </p:sp>
      <p:sp>
        <p:nvSpPr>
          <p:cNvPr id="18" name="Text 14"/>
          <p:cNvSpPr/>
          <p:nvPr/>
        </p:nvSpPr>
        <p:spPr>
          <a:xfrm>
            <a:off x="4579590" y="5434905"/>
            <a:ext cx="2560290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EV charging via app, card or chip, plus THG bonus and car sharing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4579590" y="7820025"/>
            <a:ext cx="2484090" cy="9525"/>
          </a:xfrm>
          <a:prstGeom prst="rect">
            <a:avLst/>
          </a:prstGeom>
          <a:solidFill>
            <a:srgbClr val="D6E2F5"/>
          </a:solidFill>
          <a:ln/>
        </p:spPr>
      </p:sp>
      <p:sp>
        <p:nvSpPr>
          <p:cNvPr id="20" name="Text 16"/>
          <p:cNvSpPr/>
          <p:nvPr/>
        </p:nvSpPr>
        <p:spPr>
          <a:xfrm>
            <a:off x="4579590" y="8058150"/>
            <a:ext cx="273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927,000+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4579590" y="8591550"/>
            <a:ext cx="25602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Charge points in Europe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597080" y="2743200"/>
            <a:ext cx="3093690" cy="6781800"/>
          </a:xfrm>
          <a:prstGeom prst="roundRect">
            <a:avLst>
              <a:gd name="adj" fmla="val 7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1880" y="3124200"/>
            <a:ext cx="914400" cy="9144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901880" y="4229100"/>
            <a:ext cx="1501080" cy="42669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25" name="Text 20"/>
          <p:cNvSpPr/>
          <p:nvPr/>
        </p:nvSpPr>
        <p:spPr>
          <a:xfrm>
            <a:off x="8073330" y="4305300"/>
            <a:ext cx="1234380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Since 2021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901880" y="4846290"/>
            <a:ext cx="2732499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6"/>
              </a:lnSpc>
              <a:buNone/>
            </a:pPr>
            <a:r>
              <a:rPr lang="en-US" sz="28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Mobile</a:t>
            </a:r>
            <a:endParaRPr lang="en-US" sz="2850" dirty="0"/>
          </a:p>
        </p:txBody>
      </p:sp>
      <p:sp>
        <p:nvSpPr>
          <p:cNvPr id="27" name="Text 22"/>
          <p:cNvSpPr/>
          <p:nvPr/>
        </p:nvSpPr>
        <p:spPr>
          <a:xfrm>
            <a:off x="7901880" y="5434905"/>
            <a:ext cx="256029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Mobile phone contracts with flexible data plans</a:t>
            </a:r>
            <a:endParaRPr lang="en-US" sz="1950" dirty="0"/>
          </a:p>
        </p:txBody>
      </p:sp>
      <p:sp>
        <p:nvSpPr>
          <p:cNvPr id="28" name="Shape 23"/>
          <p:cNvSpPr/>
          <p:nvPr/>
        </p:nvSpPr>
        <p:spPr>
          <a:xfrm>
            <a:off x="7901880" y="8096250"/>
            <a:ext cx="2484090" cy="9525"/>
          </a:xfrm>
          <a:prstGeom prst="rect">
            <a:avLst/>
          </a:prstGeom>
          <a:solidFill>
            <a:srgbClr val="D6E2F5"/>
          </a:solidFill>
          <a:ln/>
        </p:spPr>
      </p:sp>
      <p:sp>
        <p:nvSpPr>
          <p:cNvPr id="29" name="Text 24"/>
          <p:cNvSpPr/>
          <p:nvPr/>
        </p:nvSpPr>
        <p:spPr>
          <a:xfrm>
            <a:off x="7901880" y="8334375"/>
            <a:ext cx="273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~27k</a:t>
            </a:r>
            <a:endParaRPr lang="en-US" sz="3600" dirty="0"/>
          </a:p>
        </p:txBody>
      </p:sp>
      <p:sp>
        <p:nvSpPr>
          <p:cNvPr id="30" name="Text 25"/>
          <p:cNvSpPr/>
          <p:nvPr/>
        </p:nvSpPr>
        <p:spPr>
          <a:xfrm>
            <a:off x="7901880" y="8867775"/>
            <a:ext cx="27324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0919371" y="2743200"/>
            <a:ext cx="3093690" cy="6781800"/>
          </a:xfrm>
          <a:prstGeom prst="roundRect">
            <a:avLst>
              <a:gd name="adj" fmla="val 7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4171" y="3124200"/>
            <a:ext cx="914400" cy="9144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11224171" y="4229100"/>
            <a:ext cx="1515963" cy="42669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34" name="Text 28"/>
          <p:cNvSpPr/>
          <p:nvPr/>
        </p:nvSpPr>
        <p:spPr>
          <a:xfrm>
            <a:off x="11395621" y="4305300"/>
            <a:ext cx="1249263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Since 2016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1224171" y="4846290"/>
            <a:ext cx="2732499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6"/>
              </a:lnSpc>
              <a:buNone/>
            </a:pPr>
            <a:r>
              <a:rPr lang="en-US" sz="28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Online shop</a:t>
            </a:r>
            <a:endParaRPr lang="en-US" sz="2850" dirty="0"/>
          </a:p>
        </p:txBody>
      </p:sp>
      <p:sp>
        <p:nvSpPr>
          <p:cNvPr id="36" name="Text 30"/>
          <p:cNvSpPr/>
          <p:nvPr/>
        </p:nvSpPr>
        <p:spPr>
          <a:xfrm>
            <a:off x="11224171" y="5434905"/>
            <a:ext cx="256029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Smart home devices, wallboxes and brand products</a:t>
            </a:r>
            <a:endParaRPr lang="en-US" sz="1950" dirty="0"/>
          </a:p>
        </p:txBody>
      </p:sp>
      <p:sp>
        <p:nvSpPr>
          <p:cNvPr id="37" name="Shape 31"/>
          <p:cNvSpPr/>
          <p:nvPr/>
        </p:nvSpPr>
        <p:spPr>
          <a:xfrm>
            <a:off x="11224171" y="8096250"/>
            <a:ext cx="2484090" cy="9525"/>
          </a:xfrm>
          <a:prstGeom prst="rect">
            <a:avLst/>
          </a:prstGeom>
          <a:solidFill>
            <a:srgbClr val="D6E2F5"/>
          </a:solidFill>
          <a:ln/>
        </p:spPr>
      </p:sp>
      <p:sp>
        <p:nvSpPr>
          <p:cNvPr id="38" name="Text 32"/>
          <p:cNvSpPr/>
          <p:nvPr/>
        </p:nvSpPr>
        <p:spPr>
          <a:xfrm>
            <a:off x="11224171" y="8334375"/>
            <a:ext cx="273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~43k</a:t>
            </a:r>
            <a:endParaRPr lang="en-US" sz="3600" dirty="0"/>
          </a:p>
        </p:txBody>
      </p:sp>
      <p:sp>
        <p:nvSpPr>
          <p:cNvPr id="39" name="Text 33"/>
          <p:cNvSpPr/>
          <p:nvPr/>
        </p:nvSpPr>
        <p:spPr>
          <a:xfrm>
            <a:off x="11224171" y="8867775"/>
            <a:ext cx="27324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Orders per year</a:t>
            </a:r>
            <a:endParaRPr lang="en-US" sz="1800" dirty="0"/>
          </a:p>
        </p:txBody>
      </p:sp>
      <p:sp>
        <p:nvSpPr>
          <p:cNvPr id="40" name="Shape 34"/>
          <p:cNvSpPr/>
          <p:nvPr/>
        </p:nvSpPr>
        <p:spPr>
          <a:xfrm>
            <a:off x="14241661" y="2743200"/>
            <a:ext cx="3093690" cy="6781800"/>
          </a:xfrm>
          <a:prstGeom prst="roundRect">
            <a:avLst>
              <a:gd name="adj" fmla="val 7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546461" y="3124200"/>
            <a:ext cx="914400" cy="914400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14546461" y="4229100"/>
            <a:ext cx="834033" cy="42669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43" name="Text 36"/>
          <p:cNvSpPr/>
          <p:nvPr/>
        </p:nvSpPr>
        <p:spPr>
          <a:xfrm>
            <a:off x="14717911" y="4305300"/>
            <a:ext cx="567333" cy="3123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9310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New</a:t>
            </a:r>
            <a:endParaRPr lang="en-US" sz="1800" dirty="0"/>
          </a:p>
        </p:txBody>
      </p:sp>
      <p:sp>
        <p:nvSpPr>
          <p:cNvPr id="44" name="Text 37"/>
          <p:cNvSpPr/>
          <p:nvPr/>
        </p:nvSpPr>
        <p:spPr>
          <a:xfrm>
            <a:off x="14546461" y="4846290"/>
            <a:ext cx="2732499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36"/>
              </a:lnSpc>
              <a:buNone/>
            </a:pPr>
            <a:r>
              <a:rPr lang="en-US" sz="28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Smart Living</a:t>
            </a:r>
            <a:endParaRPr lang="en-US" sz="2850" dirty="0"/>
          </a:p>
        </p:txBody>
      </p:sp>
      <p:sp>
        <p:nvSpPr>
          <p:cNvPr id="45" name="Text 38"/>
          <p:cNvSpPr/>
          <p:nvPr/>
        </p:nvSpPr>
        <p:spPr>
          <a:xfrm>
            <a:off x="14546461" y="5434905"/>
            <a:ext cx="2560290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Smart meter and smart home today; Smart Charging and HEMS coming soon</a:t>
            </a:r>
            <a:endParaRPr lang="en-US" sz="1950" dirty="0"/>
          </a:p>
        </p:txBody>
      </p:sp>
      <p:sp>
        <p:nvSpPr>
          <p:cNvPr id="46" name="Shape 39"/>
          <p:cNvSpPr/>
          <p:nvPr/>
        </p:nvSpPr>
        <p:spPr>
          <a:xfrm>
            <a:off x="14546461" y="7820025"/>
            <a:ext cx="2484090" cy="9525"/>
          </a:xfrm>
          <a:prstGeom prst="rect">
            <a:avLst/>
          </a:prstGeom>
          <a:solidFill>
            <a:srgbClr val="D6E2F5"/>
          </a:solidFill>
          <a:ln/>
        </p:spPr>
      </p:sp>
      <p:sp>
        <p:nvSpPr>
          <p:cNvPr id="47" name="Text 40"/>
          <p:cNvSpPr/>
          <p:nvPr/>
        </p:nvSpPr>
        <p:spPr>
          <a:xfrm>
            <a:off x="14546461" y="8058150"/>
            <a:ext cx="27324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6"/>
              </a:lnSpc>
              <a:buNone/>
            </a:pPr>
            <a:r>
              <a:rPr lang="en-US" sz="3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PoC</a:t>
            </a:r>
            <a:endParaRPr lang="en-US" sz="3600" dirty="0"/>
          </a:p>
        </p:txBody>
      </p:sp>
      <p:sp>
        <p:nvSpPr>
          <p:cNvPr id="48" name="Text 41"/>
          <p:cNvSpPr/>
          <p:nvPr/>
        </p:nvSpPr>
        <p:spPr>
          <a:xfrm>
            <a:off x="14546461" y="8591550"/>
            <a:ext cx="25602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MVP go live End of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OUR PORTFOLIO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customer base, many systems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5" name="Text 3"/>
          <p:cNvSpPr/>
          <p:nvPr/>
        </p:nvSpPr>
        <p:spPr>
          <a:xfrm>
            <a:off x="1162050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All 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2050" y="3267075"/>
            <a:ext cx="164496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CRM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019425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8" name="Text 6"/>
          <p:cNvSpPr/>
          <p:nvPr/>
        </p:nvSpPr>
        <p:spPr>
          <a:xfrm>
            <a:off x="3228975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Energy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28975" y="3267075"/>
            <a:ext cx="164496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Billing ERP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86350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11" name="Text 9"/>
          <p:cNvSpPr/>
          <p:nvPr/>
        </p:nvSpPr>
        <p:spPr>
          <a:xfrm>
            <a:off x="5295900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Mobile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95900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Telco backend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53275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62825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Online shop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62825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Shopware 6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20200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0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Smart Living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29750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HEMS cloud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287125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496675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Autostrom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96675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Autostrom backend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354050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13563600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Autostrom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563600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Roaming hub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5420975" y="2667000"/>
            <a:ext cx="1914525" cy="1441847"/>
          </a:xfrm>
          <a:prstGeom prst="roundRect">
            <a:avLst>
              <a:gd name="adj" fmla="val 10570"/>
            </a:avLst>
          </a:prstGeom>
          <a:solidFill>
            <a:srgbClr val="F1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15630525" y="2895600"/>
            <a:ext cx="16449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630525" y="3267075"/>
            <a:ext cx="1571625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70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Newsletter tool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52500" y="4489847"/>
            <a:ext cx="8096250" cy="1905000"/>
          </a:xfrm>
          <a:prstGeom prst="roundRect">
            <a:avLst>
              <a:gd name="adj" fmla="val 12000"/>
            </a:avLst>
          </a:prstGeom>
          <a:solidFill>
            <a:srgbClr val="004BAD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" y="4794647"/>
            <a:ext cx="8067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33500" y="5185172"/>
            <a:ext cx="806767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Unified master view on Databricks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333500" y="5766197"/>
            <a:ext cx="8067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customer_id links every source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239250" y="4489847"/>
            <a:ext cx="8096250" cy="1905000"/>
          </a:xfrm>
          <a:prstGeom prst="roundRect">
            <a:avLst>
              <a:gd name="adj" fmla="val 12000"/>
            </a:avLst>
          </a:prstGeom>
          <a:solidFill>
            <a:srgbClr val="FFE500"/>
          </a:solidFill>
          <a:ln/>
        </p:spPr>
      </p:sp>
      <p:sp>
        <p:nvSpPr>
          <p:cNvPr id="33" name="Text 31"/>
          <p:cNvSpPr/>
          <p:nvPr/>
        </p:nvSpPr>
        <p:spPr>
          <a:xfrm>
            <a:off x="9620250" y="4794647"/>
            <a:ext cx="8067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MISSING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20250" y="5185172"/>
            <a:ext cx="806767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decision layer on top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20250" y="5766197"/>
            <a:ext cx="80676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Which offer, which channel, which tone, and when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52500" y="6775847"/>
            <a:ext cx="16383000" cy="1304925"/>
          </a:xfrm>
          <a:prstGeom prst="roundRect">
            <a:avLst>
              <a:gd name="adj" fmla="val 17518"/>
            </a:avLst>
          </a:prstGeom>
          <a:solidFill>
            <a:srgbClr val="F1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7290197"/>
            <a:ext cx="35623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THE BUILD DAYS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53000" y="7042547"/>
            <a:ext cx="123615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59"/>
              </a:lnSpc>
              <a:buNone/>
            </a:pPr>
            <a:r>
              <a:rPr lang="en-US" sz="22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Integration is given: you get one consistent mock dataset with a single customer_id. </a:t>
            </a:r>
            <a:pPr algn="l" indent="0" marL="0">
              <a:lnSpc>
                <a:spcPct val="109459"/>
              </a:lnSpc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Build the decision layer, not the pipes.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6874490" cy="1827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25"/>
              </a:lnSpc>
              <a:buNone/>
            </a:pPr>
            <a:r>
              <a:rPr lang="en-US" sz="4350" b="1" spc="-87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Build a clickable prototype that recommends the right offer, channel and tone for each customer, and a marketing dashboard to steer it.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3427809"/>
            <a:ext cx="1802130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4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Best means: the highest expected gain in CLV.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4540151"/>
            <a:ext cx="16383000" cy="1921966"/>
          </a:xfrm>
          <a:prstGeom prst="roundRect">
            <a:avLst>
              <a:gd name="adj" fmla="val 11894"/>
            </a:avLst>
          </a:prstGeom>
          <a:solidFill>
            <a:srgbClr val="002D67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930676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43300" y="4806851"/>
            <a:ext cx="13813536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Campaigns reach customers in broad, product-based segments with static criteria. Solid, but not personal, not dynamic, and blind to customer lifetime value (CLV).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6690717"/>
            <a:ext cx="3952875" cy="2834283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6919317"/>
            <a:ext cx="3761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EXAMPLE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7290792"/>
            <a:ext cx="3522059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customer deregisters their gas meter – a clear sign of a new heat pump – but gets no offer for heat-pump electricity.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6690717"/>
            <a:ext cx="3952875" cy="2834283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62575" y="6919317"/>
            <a:ext cx="3761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EXAMPLE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62575" y="7290792"/>
            <a:ext cx="3522059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customer buys a wallbox in our shop, but gets no offer for charging at home or on the road with Autostrom.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39250" y="6690717"/>
            <a:ext cx="3952875" cy="2834283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05950" y="6919317"/>
            <a:ext cx="3761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EXAMPLE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05950" y="7290792"/>
            <a:ext cx="3522059" cy="2043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customer clicks the heat pump story in three newsletters in a row. Nobody follows up – only an unsubscribe triggers a reaction.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82625" y="6690717"/>
            <a:ext cx="3952875" cy="2834283"/>
          </a:xfrm>
          <a:prstGeom prst="roundRect">
            <a:avLst>
              <a:gd name="adj" fmla="val 806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3649325" y="6919317"/>
            <a:ext cx="3761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EXAMPLE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49325" y="7290792"/>
            <a:ext cx="3522059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loyal high-value customer gets the same action, at the same time, in the same tone as someone who joined last week.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68"/>
              </a:lnSpc>
              <a:buNone/>
            </a:pPr>
            <a:r>
              <a:rPr lang="en-US" sz="4500" b="1" spc="-9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What “best” means: the highest expected gain in CLV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2331690"/>
            <a:ext cx="16383000" cy="801886"/>
          </a:xfrm>
          <a:prstGeom prst="roundRect">
            <a:avLst>
              <a:gd name="adj" fmla="val 28508"/>
            </a:avLst>
          </a:prstGeom>
          <a:solidFill>
            <a:srgbClr val="002D67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22190"/>
            <a:ext cx="16112490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23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Expected value of an action = p(accept) × (CLV after − CLV now) − contact cost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3362176"/>
            <a:ext cx="1978075" cy="428625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438376"/>
            <a:ext cx="1673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RAISES CLV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3905101"/>
            <a:ext cx="8077200" cy="973336"/>
          </a:xfrm>
          <a:prstGeom prst="roundRect">
            <a:avLst>
              <a:gd name="adj" fmla="val 15657"/>
            </a:avLst>
          </a:prstGeom>
          <a:solidFill>
            <a:srgbClr val="F1F6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4057501"/>
            <a:ext cx="786231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Cross-sell and upsell: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new margin, and bundled customers churn less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4992737"/>
            <a:ext cx="8077200" cy="639068"/>
          </a:xfrm>
          <a:prstGeom prst="roundRect">
            <a:avLst>
              <a:gd name="adj" fmla="val 23847"/>
            </a:avLst>
          </a:prstGeom>
          <a:solidFill>
            <a:srgbClr val="F1F6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145137"/>
            <a:ext cx="786231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Retention: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renewed price guarantee avoids a cancellation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5746105"/>
            <a:ext cx="8077200" cy="639068"/>
          </a:xfrm>
          <a:prstGeom prst="roundRect">
            <a:avLst>
              <a:gd name="adj" fmla="val 23847"/>
            </a:avLst>
          </a:prstGeom>
          <a:solidFill>
            <a:srgbClr val="F1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5898505"/>
            <a:ext cx="786231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Solving a service case: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removes the churn risk it created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58300" y="3362176"/>
            <a:ext cx="2135386" cy="428625"/>
          </a:xfrm>
          <a:prstGeom prst="roundRect">
            <a:avLst>
              <a:gd name="adj" fmla="val 50000"/>
            </a:avLst>
          </a:prstGeom>
          <a:solidFill>
            <a:srgbClr val="002D67"/>
          </a:solidFill>
          <a:ln/>
        </p:spPr>
      </p:sp>
      <p:sp>
        <p:nvSpPr>
          <p:cNvPr id="15" name="Text 13"/>
          <p:cNvSpPr/>
          <p:nvPr/>
        </p:nvSpPr>
        <p:spPr>
          <a:xfrm>
            <a:off x="9448800" y="3438376"/>
            <a:ext cx="183058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LOWERS CLV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58300" y="3905101"/>
            <a:ext cx="8077200" cy="973336"/>
          </a:xfrm>
          <a:prstGeom prst="roundRect">
            <a:avLst>
              <a:gd name="adj" fmla="val 15657"/>
            </a:avLst>
          </a:prstGeom>
          <a:solidFill>
            <a:srgbClr val="F1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9486900" y="4057501"/>
            <a:ext cx="786231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Service cases: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handling costs and higher churn – open complaints, failed charging, dunning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58300" y="4992737"/>
            <a:ext cx="8077200" cy="973336"/>
          </a:xfrm>
          <a:prstGeom prst="roundRect">
            <a:avLst>
              <a:gd name="adj" fmla="val 15657"/>
            </a:avLst>
          </a:prstGeom>
          <a:solidFill>
            <a:srgbClr val="F1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486900" y="5145137"/>
            <a:ext cx="786231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sales offer during an open service case: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it annoys, churn goes up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58300" y="6080373"/>
            <a:ext cx="8077200" cy="639068"/>
          </a:xfrm>
          <a:prstGeom prst="roundRect">
            <a:avLst>
              <a:gd name="adj" fmla="val 23847"/>
            </a:avLst>
          </a:prstGeom>
          <a:solidFill>
            <a:srgbClr val="F1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86900" y="6232773"/>
            <a:ext cx="786231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Every contact has a cost, </a:t>
            </a:r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2D67"/>
                </a:solidFill>
                <a:highlight>
                  <a:srgbClr val="F1F6FF"/>
                </a:highlight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and too many contacts cause fatigue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2500" y="6948041"/>
            <a:ext cx="16383000" cy="1101030"/>
          </a:xfrm>
          <a:prstGeom prst="roundRect">
            <a:avLst>
              <a:gd name="adj" fmla="val 20762"/>
            </a:avLst>
          </a:prstGeom>
          <a:solidFill>
            <a:srgbClr val="FFE500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" y="7360444"/>
            <a:ext cx="20955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EXAMPLE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19500" y="7138541"/>
            <a:ext cx="137350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An Autostrom driver with three failed charging sessions: a home electricity offer scores negative, a proactive service fix scores clearly positive. </a:t>
            </a:r>
            <a:pPr algn="l" indent="0" marL="0">
              <a:lnSpc>
                <a:spcPct val="111176"/>
              </a:lnSpc>
              <a:buNone/>
            </a:pPr>
            <a:r>
              <a:rPr lang="en-US" sz="21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engine picks the fix.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52500" y="9248775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CLV, margins, churn drivers and all parameters are precomputed in the mock data (customer_value, value_assumptions).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Three questions to answer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819400"/>
            <a:ext cx="5283101" cy="6705600"/>
          </a:xfrm>
          <a:prstGeom prst="roundRect">
            <a:avLst>
              <a:gd name="adj" fmla="val 4327"/>
            </a:avLst>
          </a:prstGeom>
          <a:solidFill>
            <a:srgbClr val="F1F6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76600"/>
            <a:ext cx="488939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6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01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371600" y="4343400"/>
            <a:ext cx="4889391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Decide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5133975"/>
            <a:ext cx="457824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2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Which offer, channel and tone (Du/Sie) does the engine pick per customer, ranked by expected CLV gain?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8374559"/>
            <a:ext cx="457824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Respects consent, exclusions and contact limits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01" y="2819400"/>
            <a:ext cx="5283250" cy="6705600"/>
          </a:xfrm>
          <a:prstGeom prst="roundRect">
            <a:avLst>
              <a:gd name="adj" fmla="val 4327"/>
            </a:avLst>
          </a:prstGeom>
          <a:solidFill>
            <a:srgbClr val="F1F6F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01" y="3276600"/>
            <a:ext cx="488955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6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02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6921401" y="4343400"/>
            <a:ext cx="48895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Explain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21401" y="5133975"/>
            <a:ext cx="457840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2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Can a marketer see in one line why the engine chose this action – and change it?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21401" y="8374559"/>
            <a:ext cx="457840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Inputs · rules · scores · chosen action, all logged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52250" y="2819400"/>
            <a:ext cx="5283250" cy="6705600"/>
          </a:xfrm>
          <a:prstGeom prst="roundRect">
            <a:avLst>
              <a:gd name="adj" fmla="val 4327"/>
            </a:avLst>
          </a:prstGeom>
          <a:solidFill>
            <a:srgbClr val="F1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1350" y="3276600"/>
            <a:ext cx="488955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481"/>
              </a:lnSpc>
              <a:buNone/>
            </a:pPr>
            <a:r>
              <a:rPr lang="en-US" sz="66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03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2471350" y="4343400"/>
            <a:ext cx="488955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Learn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2471350" y="5133975"/>
            <a:ext cx="457840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25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How would reactions improve the engine over time, and how do you prove an action caused a result?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471350" y="8374559"/>
            <a:ext cx="457840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Concept is enough · control group · uplift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Reference pipeline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514600"/>
            <a:ext cx="2226022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705100"/>
            <a:ext cx="20295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076575"/>
            <a:ext cx="20295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Trigger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3524250"/>
            <a:ext cx="1921222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Event or scheduled run selects a customer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11872" y="2514600"/>
            <a:ext cx="2226171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2372" y="2705100"/>
            <a:ext cx="2029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02372" y="3076575"/>
            <a:ext cx="20296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Eligibility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502372" y="3524250"/>
            <a:ext cx="1921371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Consent, products held, exclusions, frequency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71393" y="2514600"/>
            <a:ext cx="2226171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61893" y="2705100"/>
            <a:ext cx="2029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61893" y="3076575"/>
            <a:ext cx="20296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Scoring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861893" y="3524250"/>
            <a:ext cx="1921371" cy="158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Expected change in the customer’s CLV – can be negative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30914" y="2514600"/>
            <a:ext cx="2226022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1414" y="2705100"/>
            <a:ext cx="20295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1414" y="3076575"/>
            <a:ext cx="20295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Arbitration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8221414" y="3524250"/>
            <a:ext cx="1921222" cy="2197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Rank by expected CLV gain, drop negative actions, respect fatigue and limits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390287" y="2514600"/>
            <a:ext cx="2226171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80787" y="2705100"/>
            <a:ext cx="2029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80787" y="3076575"/>
            <a:ext cx="192137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Channel &amp; tone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580787" y="3876675"/>
            <a:ext cx="1921371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Where and how to address the customer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49808" y="2514600"/>
            <a:ext cx="2226171" cy="3359795"/>
          </a:xfrm>
          <a:prstGeom prst="roundRect">
            <a:avLst>
              <a:gd name="adj" fmla="val 6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940308" y="2705100"/>
            <a:ext cx="2029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940308" y="3076575"/>
            <a:ext cx="20296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Content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940308" y="3524250"/>
            <a:ext cx="1921371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e.g. LLM, within approved templates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109329" y="2514600"/>
            <a:ext cx="2226022" cy="3359795"/>
          </a:xfrm>
          <a:prstGeom prst="roundRect">
            <a:avLst>
              <a:gd name="adj" fmla="val 6846"/>
            </a:avLst>
          </a:prstGeom>
          <a:solidFill>
            <a:srgbClr val="002D67"/>
          </a:solidFill>
          <a:ln/>
        </p:spPr>
      </p:sp>
      <p:sp>
        <p:nvSpPr>
          <p:cNvPr id="29" name="Text 27"/>
          <p:cNvSpPr/>
          <p:nvPr/>
        </p:nvSpPr>
        <p:spPr>
          <a:xfrm>
            <a:off x="15299829" y="2705100"/>
            <a:ext cx="202952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99829" y="3076575"/>
            <a:ext cx="192122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Delivery &amp; log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299829" y="3876675"/>
            <a:ext cx="1921222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Track response, back to step 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6473428"/>
            <a:ext cx="16383000" cy="161925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2D67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33500" y="7130653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EXAMPLE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267200" y="6682978"/>
            <a:ext cx="62985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2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Electricity customer writes formal emails, never opens newsletters, logs into the portal weekly.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0839450" y="6883003"/>
            <a:ext cx="629850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Engine skips the newsletter and shows a portal pop-up, addressed with “Sie”.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952500" y="8283178"/>
            <a:ext cx="16383000" cy="1241822"/>
          </a:xfrm>
          <a:prstGeom prst="roundRect">
            <a:avLst>
              <a:gd name="adj" fmla="val 18408"/>
            </a:avLst>
          </a:prstGeom>
          <a:solidFill>
            <a:srgbClr val="FFE500"/>
          </a:solidFill>
          <a:ln/>
        </p:spPr>
      </p:sp>
      <p:sp>
        <p:nvSpPr>
          <p:cNvPr id="37" name="Text 35"/>
          <p:cNvSpPr/>
          <p:nvPr/>
        </p:nvSpPr>
        <p:spPr>
          <a:xfrm>
            <a:off x="1333500" y="8751689"/>
            <a:ext cx="2724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DAY ONE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4267200" y="8492728"/>
            <a:ext cx="13067919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4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Start with rules, the precomputed CLV and acceptance rates from the action history. ML is optional – log every decision and keep a control group.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KEY AIM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clickable prototype, three parts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628900"/>
            <a:ext cx="5283101" cy="5710238"/>
          </a:xfrm>
          <a:prstGeom prst="roundRect">
            <a:avLst>
              <a:gd name="adj" fmla="val 4327"/>
            </a:avLst>
          </a:prstGeom>
          <a:solidFill>
            <a:srgbClr val="F1F6FF"/>
          </a:solidFill>
          <a:ln/>
        </p:spPr>
      </p:sp>
      <p:sp>
        <p:nvSpPr>
          <p:cNvPr id="5" name="Shape 3"/>
          <p:cNvSpPr/>
          <p:nvPr/>
        </p:nvSpPr>
        <p:spPr>
          <a:xfrm>
            <a:off x="1333500" y="2971800"/>
            <a:ext cx="1412677" cy="466725"/>
          </a:xfrm>
          <a:prstGeom prst="roundRect">
            <a:avLst>
              <a:gd name="adj" fmla="val 50000"/>
            </a:avLst>
          </a:prstGeom>
          <a:solidFill>
            <a:srgbClr val="004BAD"/>
          </a:solidFill>
          <a:ln/>
        </p:spPr>
      </p:sp>
      <p:sp>
        <p:nvSpPr>
          <p:cNvPr id="6" name="Text 4"/>
          <p:cNvSpPr/>
          <p:nvPr/>
        </p:nvSpPr>
        <p:spPr>
          <a:xfrm>
            <a:off x="1543050" y="3067050"/>
            <a:ext cx="10697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3629025"/>
            <a:ext cx="4973211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57"/>
              </a:lnSpc>
              <a:buNone/>
            </a:pPr>
            <a:r>
              <a:rPr lang="en-US" sz="34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Recommendations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333500" y="5832277"/>
            <a:ext cx="4521101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984677"/>
            <a:ext cx="465673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Per customer: offer, channel, tone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33500" y="6478042"/>
            <a:ext cx="4521101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630442"/>
            <a:ext cx="465673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Expected CLV gain and a one-line reason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33500" y="7483822"/>
            <a:ext cx="4521101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636222"/>
            <a:ext cx="465673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Runs on the mock data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502301" y="2628900"/>
            <a:ext cx="5283250" cy="5710238"/>
          </a:xfrm>
          <a:prstGeom prst="roundRect">
            <a:avLst>
              <a:gd name="adj" fmla="val 4327"/>
            </a:avLst>
          </a:prstGeom>
          <a:solidFill>
            <a:srgbClr val="002D6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83301" y="2971800"/>
            <a:ext cx="2572345" cy="466725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92851" y="3067050"/>
            <a:ext cx="22304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MARKETING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83301" y="3629025"/>
            <a:ext cx="465688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57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Orchestration dashboard</a:t>
            </a:r>
            <a:endParaRPr lang="en-US" sz="3450" dirty="0"/>
          </a:p>
        </p:txBody>
      </p:sp>
      <p:sp>
        <p:nvSpPr>
          <p:cNvPr id="18" name="Shape 16"/>
          <p:cNvSpPr/>
          <p:nvPr/>
        </p:nvSpPr>
        <p:spPr>
          <a:xfrm>
            <a:off x="6883301" y="5112246"/>
            <a:ext cx="452125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83301" y="5264646"/>
            <a:ext cx="46568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Top NBAs across customers and segments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83301" y="6118027"/>
            <a:ext cx="452125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83301" y="6270427"/>
            <a:ext cx="46568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Set offers, priorities and contact limits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883301" y="7123807"/>
            <a:ext cx="452125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83301" y="7276207"/>
            <a:ext cx="46568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Approve content, channels and tone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052250" y="2628900"/>
            <a:ext cx="5283250" cy="5710238"/>
          </a:xfrm>
          <a:prstGeom prst="roundRect">
            <a:avLst>
              <a:gd name="adj" fmla="val 4327"/>
            </a:avLst>
          </a:prstGeom>
          <a:solidFill>
            <a:srgbClr val="F1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433250" y="2971800"/>
            <a:ext cx="3652093" cy="466725"/>
          </a:xfrm>
          <a:prstGeom prst="roundRect">
            <a:avLst>
              <a:gd name="adj" fmla="val 50000"/>
            </a:avLst>
          </a:prstGeom>
          <a:solidFill>
            <a:srgbClr val="004BAD"/>
          </a:solidFill>
          <a:ln/>
        </p:spPr>
      </p:sp>
      <p:sp>
        <p:nvSpPr>
          <p:cNvPr id="26" name="Text 24"/>
          <p:cNvSpPr/>
          <p:nvPr/>
        </p:nvSpPr>
        <p:spPr>
          <a:xfrm>
            <a:off x="12642800" y="3067050"/>
            <a:ext cx="33425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FOR CUSTOMER SERVICE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433250" y="3629025"/>
            <a:ext cx="465688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357"/>
              </a:lnSpc>
              <a:buNone/>
            </a:pPr>
            <a:r>
              <a:rPr lang="en-US" sz="34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Customer 360° dashboard</a:t>
            </a:r>
            <a:endParaRPr lang="en-US" sz="3450" dirty="0"/>
          </a:p>
        </p:txBody>
      </p:sp>
      <p:sp>
        <p:nvSpPr>
          <p:cNvPr id="28" name="Shape 26"/>
          <p:cNvSpPr/>
          <p:nvPr/>
        </p:nvSpPr>
        <p:spPr>
          <a:xfrm>
            <a:off x="12433250" y="5472261"/>
            <a:ext cx="4521250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29" name="Text 27"/>
          <p:cNvSpPr/>
          <p:nvPr/>
        </p:nvSpPr>
        <p:spPr>
          <a:xfrm>
            <a:off x="12433250" y="5624661"/>
            <a:ext cx="46568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Current status: products, contracts, open cases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2433250" y="6478042"/>
            <a:ext cx="4521250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31" name="Text 29"/>
          <p:cNvSpPr/>
          <p:nvPr/>
        </p:nvSpPr>
        <p:spPr>
          <a:xfrm>
            <a:off x="12433250" y="6630442"/>
            <a:ext cx="465688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CLV at a glance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2433250" y="7123807"/>
            <a:ext cx="4521250" cy="19050"/>
          </a:xfrm>
          <a:prstGeom prst="rect">
            <a:avLst/>
          </a:prstGeom>
          <a:solidFill>
            <a:srgbClr val="DBE7FB"/>
          </a:solidFill>
          <a:ln/>
        </p:spPr>
      </p:sp>
      <p:sp>
        <p:nvSpPr>
          <p:cNvPr id="33" name="Text 31"/>
          <p:cNvSpPr/>
          <p:nvPr/>
        </p:nvSpPr>
        <p:spPr>
          <a:xfrm>
            <a:off x="12433250" y="7276207"/>
            <a:ext cx="46568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76"/>
              </a:lnSpc>
              <a:buNone/>
            </a:pPr>
            <a:r>
              <a:rPr lang="en-US" sz="21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Most favourable NBAs, ranked, with a reason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8682038"/>
            <a:ext cx="16383000" cy="842963"/>
          </a:xfrm>
          <a:prstGeom prst="roundRect">
            <a:avLst>
              <a:gd name="adj" fmla="val 27119"/>
            </a:avLst>
          </a:prstGeom>
          <a:solidFill>
            <a:srgbClr val="F1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33500" y="8965406"/>
            <a:ext cx="16764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PLUS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38500" y="8910638"/>
            <a:ext cx="150876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59"/>
              </a:lnSpc>
              <a:buNone/>
            </a:pPr>
            <a:r>
              <a:rPr lang="en-US" sz="225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slide on target architecture: how this would run on Databricks with MCP data access.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12778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127788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Deliverables and judging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2476500"/>
            <a:ext cx="11277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CORE – EVERY TEAM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847975"/>
            <a:ext cx="10252621" cy="859036"/>
          </a:xfrm>
          <a:prstGeom prst="roundRect">
            <a:avLst>
              <a:gd name="adj" fmla="val 17741"/>
            </a:avLst>
          </a:prstGeom>
          <a:solidFill>
            <a:srgbClr val="F1F6FF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2943225"/>
            <a:ext cx="533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790700" y="2943225"/>
            <a:ext cx="101044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Clickable prototype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90700" y="3314700"/>
            <a:ext cx="101044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Offer, channel, tone, expected CLV gain and reason per customer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783211"/>
            <a:ext cx="10252621" cy="859036"/>
          </a:xfrm>
          <a:prstGeom prst="roundRect">
            <a:avLst>
              <a:gd name="adj" fmla="val 17741"/>
            </a:avLst>
          </a:prstGeom>
          <a:solidFill>
            <a:srgbClr val="F1F6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878461"/>
            <a:ext cx="533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790700" y="3878461"/>
            <a:ext cx="101044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Marketing dashboard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790700" y="4249936"/>
            <a:ext cx="101044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Steer, approve and monitor NBAs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4718447"/>
            <a:ext cx="10252621" cy="859036"/>
          </a:xfrm>
          <a:prstGeom prst="roundRect">
            <a:avLst>
              <a:gd name="adj" fmla="val 17741"/>
            </a:avLst>
          </a:prstGeom>
          <a:solidFill>
            <a:srgbClr val="F1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4813697"/>
            <a:ext cx="533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90700" y="4813697"/>
            <a:ext cx="101044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Customer 360° dashboard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790700" y="5185172"/>
            <a:ext cx="101044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Status, CLV and top NBAs for service agents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5653683"/>
            <a:ext cx="10252621" cy="859036"/>
          </a:xfrm>
          <a:prstGeom prst="roundRect">
            <a:avLst>
              <a:gd name="adj" fmla="val 17741"/>
            </a:avLst>
          </a:prstGeom>
          <a:solidFill>
            <a:srgbClr val="F1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5748933"/>
            <a:ext cx="533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90700" y="5748933"/>
            <a:ext cx="101044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Architecture concept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790700" y="6120408"/>
            <a:ext cx="101044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One slide: Databricks, MCP, how it would run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" y="6588919"/>
            <a:ext cx="10252621" cy="859036"/>
          </a:xfrm>
          <a:prstGeom prst="roundRect">
            <a:avLst>
              <a:gd name="adj" fmla="val 17741"/>
            </a:avLst>
          </a:prstGeom>
          <a:solidFill>
            <a:srgbClr val="F1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6684169"/>
            <a:ext cx="5334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5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790700" y="6684169"/>
            <a:ext cx="1010440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Pitch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790700" y="7055644"/>
            <a:ext cx="101044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586"/>
              </a:lnSpc>
              <a:buNone/>
            </a:pPr>
            <a:r>
              <a:rPr lang="en-US" sz="1800" dirty="0">
                <a:solidFill>
                  <a:srgbClr val="33557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8 minutes plus 4 minutes Q&amp;A, in English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7638455"/>
            <a:ext cx="112778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DEEP DIVE – PICK ONE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8009930"/>
            <a:ext cx="2477393" cy="1123950"/>
          </a:xfrm>
          <a:prstGeom prst="roundRect">
            <a:avLst>
              <a:gd name="adj" fmla="val 13559"/>
            </a:avLst>
          </a:prstGeom>
          <a:solidFill>
            <a:srgbClr val="F1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" y="8124230"/>
            <a:ext cx="2347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21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23950" y="8448080"/>
            <a:ext cx="22106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Feedback loop &amp; uplift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544193" y="8009930"/>
            <a:ext cx="2477393" cy="1123950"/>
          </a:xfrm>
          <a:prstGeom prst="roundRect">
            <a:avLst>
              <a:gd name="adj" fmla="val 13559"/>
            </a:avLst>
          </a:prstGeom>
          <a:solidFill>
            <a:srgbClr val="F1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3715643" y="8124230"/>
            <a:ext cx="2347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21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B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715643" y="8448080"/>
            <a:ext cx="22106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Data freshness &amp; event replay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35886" y="8009930"/>
            <a:ext cx="2477393" cy="1123950"/>
          </a:xfrm>
          <a:prstGeom prst="roundRect">
            <a:avLst>
              <a:gd name="adj" fmla="val 13559"/>
            </a:avLst>
          </a:prstGeom>
          <a:solidFill>
            <a:srgbClr val="F1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7336" y="8124230"/>
            <a:ext cx="2347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21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307336" y="8448080"/>
            <a:ext cx="221069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Content generation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727579" y="8009930"/>
            <a:ext cx="2477542" cy="1123950"/>
          </a:xfrm>
          <a:prstGeom prst="roundRect">
            <a:avLst>
              <a:gd name="adj" fmla="val 13559"/>
            </a:avLst>
          </a:prstGeom>
          <a:solidFill>
            <a:srgbClr val="F1F6FF"/>
          </a:solidFill>
          <a:ln/>
        </p:spPr>
      </p:sp>
      <p:sp>
        <p:nvSpPr>
          <p:cNvPr id="36" name="Text 34"/>
          <p:cNvSpPr/>
          <p:nvPr/>
        </p:nvSpPr>
        <p:spPr>
          <a:xfrm>
            <a:off x="8899029" y="8124230"/>
            <a:ext cx="23481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353"/>
              </a:lnSpc>
              <a:buNone/>
            </a:pPr>
            <a:r>
              <a:rPr lang="en-US" sz="2100" b="1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899029" y="8448080"/>
            <a:ext cx="23481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Tone detection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814721" y="952500"/>
            <a:ext cx="5520630" cy="8572500"/>
          </a:xfrm>
          <a:prstGeom prst="roundRect">
            <a:avLst>
              <a:gd name="adj" fmla="val 4141"/>
            </a:avLst>
          </a:prstGeom>
          <a:solidFill>
            <a:srgbClr val="002D67"/>
          </a:solidFill>
          <a:ln/>
        </p:spPr>
      </p:sp>
      <p:sp>
        <p:nvSpPr>
          <p:cNvPr id="39" name="Text 37"/>
          <p:cNvSpPr/>
          <p:nvPr/>
        </p:nvSpPr>
        <p:spPr>
          <a:xfrm>
            <a:off x="12233821" y="1409700"/>
            <a:ext cx="51506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JURY WEIGHTING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233821" y="2057400"/>
            <a:ext cx="25216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Technical quality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6363206" y="2057400"/>
            <a:ext cx="6292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25%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12233821" y="2524125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2233821" y="2524125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44" name="Text 42"/>
          <p:cNvSpPr/>
          <p:nvPr/>
        </p:nvSpPr>
        <p:spPr>
          <a:xfrm>
            <a:off x="12233821" y="2981325"/>
            <a:ext cx="1492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Feasibility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6363206" y="2981325"/>
            <a:ext cx="6292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25%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2233821" y="3448050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233821" y="3448050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48" name="Text 46"/>
          <p:cNvSpPr/>
          <p:nvPr/>
        </p:nvSpPr>
        <p:spPr>
          <a:xfrm>
            <a:off x="12233821" y="3905250"/>
            <a:ext cx="31547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Impact for MAINGAU</a:t>
            </a:r>
            <a:endParaRPr lang="en-US" sz="2250" dirty="0"/>
          </a:p>
        </p:txBody>
      </p:sp>
      <p:sp>
        <p:nvSpPr>
          <p:cNvPr id="49" name="Text 47"/>
          <p:cNvSpPr/>
          <p:nvPr/>
        </p:nvSpPr>
        <p:spPr>
          <a:xfrm>
            <a:off x="16363206" y="3905250"/>
            <a:ext cx="6292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25%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12233821" y="4371975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233821" y="4371975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52" name="Text 50"/>
          <p:cNvSpPr/>
          <p:nvPr/>
        </p:nvSpPr>
        <p:spPr>
          <a:xfrm>
            <a:off x="12233821" y="4829175"/>
            <a:ext cx="15861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Innovation</a:t>
            </a:r>
            <a:endParaRPr lang="en-US" sz="2250" dirty="0"/>
          </a:p>
        </p:txBody>
      </p:sp>
      <p:sp>
        <p:nvSpPr>
          <p:cNvPr id="53" name="Text 51"/>
          <p:cNvSpPr/>
          <p:nvPr/>
        </p:nvSpPr>
        <p:spPr>
          <a:xfrm>
            <a:off x="16416189" y="4829175"/>
            <a:ext cx="5762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15%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12233821" y="5295900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2233821" y="5295900"/>
            <a:ext cx="2809429" cy="1143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56" name="Text 54"/>
          <p:cNvSpPr/>
          <p:nvPr/>
        </p:nvSpPr>
        <p:spPr>
          <a:xfrm>
            <a:off x="12233821" y="5753100"/>
            <a:ext cx="768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Pitch</a:t>
            </a:r>
            <a:endParaRPr lang="en-US" sz="2250" dirty="0"/>
          </a:p>
        </p:txBody>
      </p:sp>
      <p:sp>
        <p:nvSpPr>
          <p:cNvPr id="57" name="Text 55"/>
          <p:cNvSpPr/>
          <p:nvPr/>
        </p:nvSpPr>
        <p:spPr>
          <a:xfrm>
            <a:off x="16397883" y="5753100"/>
            <a:ext cx="59456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10%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12233821" y="6219825"/>
            <a:ext cx="468243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2233821" y="6219825"/>
            <a:ext cx="1872853" cy="114300"/>
          </a:xfrm>
          <a:prstGeom prst="roundRect">
            <a:avLst>
              <a:gd name="adj" fmla="val 50000"/>
            </a:avLst>
          </a:prstGeom>
          <a:solidFill>
            <a:srgbClr val="FFE500"/>
          </a:solidFill>
          <a:ln/>
        </p:spPr>
      </p:sp>
      <p:sp>
        <p:nvSpPr>
          <p:cNvPr id="60" name="Text 58"/>
          <p:cNvSpPr/>
          <p:nvPr/>
        </p:nvSpPr>
        <p:spPr>
          <a:xfrm>
            <a:off x="12233821" y="6976467"/>
            <a:ext cx="48229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Checked on reference customers hidden in the data: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233821" y="7673578"/>
            <a:ext cx="48229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· expected CLV gain of the recommended actions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233821" y="8370689"/>
            <a:ext cx="51506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· zero consent or exclusion violations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2233821" y="8747820"/>
            <a:ext cx="515067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862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· a clear reason for every decision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D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59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6000" b="1" spc="-120" kern="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Mock data and hard rules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52500" y="2533650"/>
            <a:ext cx="3952875" cy="1162050"/>
          </a:xfrm>
          <a:prstGeom prst="roundRect">
            <a:avLst>
              <a:gd name="adj" fmla="val 1639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724150"/>
            <a:ext cx="98836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750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83768" y="2933700"/>
            <a:ext cx="24460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Synthetic customers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5875" y="2533650"/>
            <a:ext cx="3952875" cy="1162050"/>
          </a:xfrm>
          <a:prstGeom prst="roundRect">
            <a:avLst>
              <a:gd name="adj" fmla="val 1639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62575" y="2724150"/>
            <a:ext cx="6054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044208" y="2933700"/>
            <a:ext cx="2912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Tables, one customer_id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9250" y="2533650"/>
            <a:ext cx="3952875" cy="1162050"/>
          </a:xfrm>
          <a:prstGeom prst="roundRect">
            <a:avLst>
              <a:gd name="adj" fmla="val 1639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05950" y="2724150"/>
            <a:ext cx="10699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640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652075" y="2933700"/>
            <a:ext cx="2448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Live events to replay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2625" y="2533650"/>
            <a:ext cx="3952875" cy="1162050"/>
          </a:xfrm>
          <a:prstGeom prst="roundRect">
            <a:avLst>
              <a:gd name="adj" fmla="val 1639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649325" y="2724150"/>
            <a:ext cx="10438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59"/>
              </a:lnSpc>
              <a:buNone/>
            </a:pPr>
            <a:r>
              <a:rPr lang="en-US" sz="4200" b="1" dirty="0">
                <a:solidFill>
                  <a:srgbClr val="FFE500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10%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4769405" y="2933700"/>
            <a:ext cx="237559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4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Control group in action history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3943350"/>
            <a:ext cx="16383000" cy="190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229100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Consent is binding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" y="4610100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No channel without consent; withdrawal stops actions at once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850" y="4229100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Exclusions beat offers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565850" y="4610100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Dunning, open complaints or cancellations block sales content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79201" y="4229100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Human in the loop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179201" y="4610100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The engine proposes; marketing approves. No autonomous sending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2500" y="5417641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Profiling needs consent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2500" y="5798641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Personalisation only for customers who agreed to profiling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65850" y="5417641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No manipulation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565850" y="5798641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No personalised prices, no fake urgency, no targeting of customers in hardship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79201" y="5417641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Payment data only as exclusion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179201" y="5798641"/>
            <a:ext cx="56717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Never used to score creditworthiness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2500" y="6606183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Explainability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52500" y="6987183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Every decision logged: inputs, rules, scores, chosen action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65850" y="6606183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Mock data only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565850" y="6987183"/>
            <a:ext cx="53108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No real customer data, no scraping of MAINGAU systems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79201" y="6606183"/>
            <a:ext cx="56717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Language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179201" y="6987183"/>
            <a:ext cx="56717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724"/>
              </a:lnSpc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Pitch in English; customer content in German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52500" y="9248775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BE7FB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EU AI Act applicability will be checked before any production use.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2330946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143000"/>
            <a:ext cx="1797546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3379589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95"/>
              </a:lnSpc>
              <a:buNone/>
            </a:pPr>
            <a:r>
              <a:rPr lang="en-US" sz="10500" b="1" spc="-262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Let’s build</a:t>
            </a:r>
            <a:endParaRPr lang="en-US" sz="10500" dirty="0"/>
          </a:p>
        </p:txBody>
      </p:sp>
      <p:sp>
        <p:nvSpPr>
          <p:cNvPr id="5" name="Text 2"/>
          <p:cNvSpPr/>
          <p:nvPr/>
        </p:nvSpPr>
        <p:spPr>
          <a:xfrm>
            <a:off x="952500" y="5017889"/>
            <a:ext cx="127539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04"/>
              </a:lnSpc>
              <a:buNone/>
            </a:pPr>
            <a:r>
              <a:rPr lang="en-US" sz="300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A clear, compliant recommendation for every customer – one that marketing can steer and that pays off in customer value.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52500" y="6579989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MOCK DATA &amp; DATA DICTIONARY: SHARED ON [DATUM]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2500" y="7237214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YOUR CONTACTS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52500" y="7703939"/>
            <a:ext cx="3924300" cy="1821061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295400" y="8008739"/>
            <a:ext cx="35623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Caro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95400" y="8551664"/>
            <a:ext cx="35623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Team Lead Marketing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105400" y="7703939"/>
            <a:ext cx="3924300" cy="1821061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448300" y="8008739"/>
            <a:ext cx="35623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Raphael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448300" y="8551664"/>
            <a:ext cx="35623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Data Architect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9258300" y="7703939"/>
            <a:ext cx="3924300" cy="1821061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0" y="8008739"/>
            <a:ext cx="35623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Jan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601200" y="8551664"/>
            <a:ext cx="333565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Product Manager B2C Energy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3411200" y="7703939"/>
            <a:ext cx="3924300" cy="1821061"/>
          </a:xfrm>
          <a:prstGeom prst="roundRect">
            <a:avLst>
              <a:gd name="adj" fmla="val 12553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3754100" y="8008739"/>
            <a:ext cx="35623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D67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Felix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3754100" y="8551664"/>
            <a:ext cx="333565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004BAD"/>
                </a:solidFill>
                <a:latin typeface="RT Rondelle" pitchFamily="34" charset="0"/>
                <a:ea typeface="RT Rondelle" pitchFamily="34" charset="-122"/>
                <a:cs typeface="RT Rondelle" pitchFamily="34" charset="-120"/>
              </a:rPr>
              <a:t>Digital Channels &amp; E-Commerce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560E4D3FFDE6F439878B6929709D7B9" ma:contentTypeVersion="13" ma:contentTypeDescription="Ein neues Dokument erstellen." ma:contentTypeScope="" ma:versionID="d8ac1bdf4dfd34ce9fbaa0f9ed48e35a">
  <xsd:schema xmlns:xsd="http://www.w3.org/2001/XMLSchema" xmlns:xs="http://www.w3.org/2001/XMLSchema" xmlns:p="http://schemas.microsoft.com/office/2006/metadata/properties" xmlns:ns2="1575db25-1d27-48bf-b81a-48f8ddf3e815" xmlns:ns3="7d8fa6ea-e8c4-4a63-8942-9155563022d3" targetNamespace="http://schemas.microsoft.com/office/2006/metadata/properties" ma:root="true" ma:fieldsID="21cc626165ca5355d12fe820f37e03e2" ns2:_="" ns3:_="">
    <xsd:import namespace="1575db25-1d27-48bf-b81a-48f8ddf3e815"/>
    <xsd:import namespace="7d8fa6ea-e8c4-4a63-8942-9155563022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5db25-1d27-48bf-b81a-48f8ddf3e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871ff282-6115-4b2c-811b-adfb3e668a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fa6ea-e8c4-4a63-8942-9155563022d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640c5e7-97bf-4e2e-8c61-7cf051a5abe2}" ma:internalName="TaxCatchAll" ma:showField="CatchAllData" ma:web="7d8fa6ea-e8c4-4a63-8942-9155563022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8fa6ea-e8c4-4a63-8942-9155563022d3" xsi:nil="true"/>
    <lcf76f155ced4ddcb4097134ff3c332f xmlns="1575db25-1d27-48bf-b81a-48f8ddf3e81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DBBA95-EF4D-41CD-8E87-087DA396EAAB}"/>
</file>

<file path=customXml/itemProps2.xml><?xml version="1.0" encoding="utf-8"?>
<ds:datastoreItem xmlns:ds="http://schemas.openxmlformats.org/officeDocument/2006/customXml" ds:itemID="{52EA0C8C-B6B6-4363-90C0-0D253701CE0A}"/>
</file>

<file path=customXml/itemProps3.xml><?xml version="1.0" encoding="utf-8"?>
<ds:datastoreItem xmlns:ds="http://schemas.openxmlformats.org/officeDocument/2006/customXml" ds:itemID="{85952B53-6219-43E9-AF5B-9129046DB53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2026-10-22T14:55:30Z</dcterms:created>
  <dcterms:modified xsi:type="dcterms:W3CDTF">2026-10-22T14:55:30Z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0x0101003560E4D3FFDE6F439878B6929709D7B9</vt:lpwstr>
  </property>
</Properties>
</file>